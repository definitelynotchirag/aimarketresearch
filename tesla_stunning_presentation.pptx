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1A23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18288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1A237E"/>
                </a:solidFill>
              </a:defRPr>
            </a:pPr>
            <a:r>
              <a:t>🚀 TESLA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92608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FF5722"/>
                </a:solidFill>
              </a:defRPr>
            </a:pPr>
            <a:r>
              <a:t>MEDIA STRATEGY &amp; MARKET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84048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424242"/>
                </a:solidFill>
              </a:defRPr>
            </a:pPr>
            <a:r>
              <a:t>🎯 Electric Vehicles | 🌍 United States | 📊 Competitive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💡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 lIns="182880" tIns="182880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424242"/>
                </a:solidFill>
              </a:defRPr>
            </a:pPr>
            <a:r>
              <a:t>📈 Tesla remains the market leader in U.S. electric vehicles but its share has slipped from 60% to 50% as legacy automakers and EV specialists launch competitive models. To defend its position, Tesla must shift from a purely organic approach to a data‑driven, multi‑channel strategy that leverages its brand equity, Supercharger advantage, and the $750k media budget across Google, Meta, YouTube, LinkedIn, Twitter/X, and TikTok. The plan focuses on brand awareness, test‑drive conversion, and sustained engagement through video, blog, and social content, with clear KPIs and a three‑phase timeline.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114800"/>
            <a:ext cx="2286000" cy="1371600"/>
          </a:xfrm>
          <a:prstGeom prst="roundRect">
            <a:avLst/>
          </a:prstGeom>
          <a:solidFill>
            <a:srgbClr val="4CAF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🏢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COMPETITORS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4114800"/>
            <a:ext cx="2286000" cy="1371600"/>
          </a:xfrm>
          <a:prstGeom prst="roundRect">
            <a:avLst/>
          </a:prstGeom>
          <a:solidFill>
            <a:srgbClr val="FF57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42976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📊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846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MARKET TRENDS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4114800"/>
            <a:ext cx="2286000" cy="1371600"/>
          </a:xfrm>
          <a:prstGeom prst="roundRect">
            <a:avLst/>
          </a:prstGeom>
          <a:solidFill>
            <a:srgbClr val="FFC10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42976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💰 $750,000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4846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BUDGET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FF57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🏢 COMPETITIVE LANDSCAPE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560320" cy="1645920"/>
          </a:xfrm>
          <a:prstGeom prst="roundRect">
            <a:avLst/>
          </a:prstGeom>
          <a:solidFill>
            <a:srgbClr val="1A23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🏆 Ford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FFFFFF"/>
                </a:solidFill>
              </a:defRPr>
            </a:pPr>
            <a:r>
              <a:t>Legacy automaker transitioning to EVs with Mustang Mach-E and F-150 Lightning, leveraging establishe...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645920"/>
            <a:ext cx="2560320" cy="1645920"/>
          </a:xfrm>
          <a:prstGeom prst="roundRect">
            <a:avLst/>
          </a:prstGeom>
          <a:solidFill>
            <a:srgbClr val="4CAF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73736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🏆 BYD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2860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FFFFFF"/>
                </a:solidFill>
              </a:defRPr>
            </a:pPr>
            <a:r>
              <a:t>World's largest EV manufacturer from China, focusing on cost-effective vehicles and vertical integra...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645920"/>
            <a:ext cx="2560320" cy="1645920"/>
          </a:xfrm>
          <a:prstGeom prst="roundRect">
            <a:avLst/>
          </a:prstGeom>
          <a:solidFill>
            <a:srgbClr val="FF57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73736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🏆 Rivian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2860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FFFFFF"/>
                </a:solidFill>
              </a:defRPr>
            </a:pPr>
            <a:r>
              <a:t>Electric truck specialist targeting adventure enthusiasts with R1T pickup and R1S SUV, backed by Ama...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2560320" cy="1645920"/>
          </a:xfrm>
          <a:prstGeom prst="roundRect">
            <a:avLst/>
          </a:prstGeom>
          <a:solidFill>
            <a:srgbClr val="FFC10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74904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🏆 Lucid Motors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976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FFFFFF"/>
                </a:solidFill>
              </a:defRPr>
            </a:pPr>
            <a:r>
              <a:t>Luxury EV maker positioning as premium Tesla alternative with industry-leading range and high-end fe...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3657600"/>
            <a:ext cx="2560320" cy="1645920"/>
          </a:xfrm>
          <a:prstGeom prst="roundRect">
            <a:avLst/>
          </a:prstGeom>
          <a:solidFill>
            <a:srgbClr val="9C27B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374904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🏆 General Motors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2976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FFFFFF"/>
                </a:solidFill>
              </a:defRPr>
            </a:pPr>
            <a:r>
              <a:t>Detroit giant investing heavily in Ultium platform with plans for 30 EV models by 2025 across multip...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3657600"/>
            <a:ext cx="2560320" cy="1645920"/>
          </a:xfrm>
          <a:prstGeom prst="roundRect">
            <a:avLst/>
          </a:prstGeom>
          <a:solidFill>
            <a:srgbClr val="0096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374904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🏆 Volkswagen Group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42976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FFFFFF"/>
                </a:solidFill>
              </a:defRPr>
            </a:pPr>
            <a:r>
              <a:t>European leader with ID series and multi-brand EV strategy across VW, Audi, and Porsche segments...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CAF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🎯 SWOT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657600" cy="2011680"/>
          </a:xfrm>
          <a:prstGeom prst="roundRect">
            <a:avLst/>
          </a:prstGeom>
          <a:solidFill>
            <a:srgbClr val="4CAF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💪 STRENGTHS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20000"/>
              </a:lnSpc>
              <a:defRPr sz="1100">
                <a:solidFill>
                  <a:srgbClr val="FFFFFF"/>
                </a:solidFill>
              </a:defRPr>
            </a:pPr>
            <a:r>
              <a:t>• Pioneering EV technology</a:t>
            </a:r>
          </a:p>
          <a:p>
            <a:pPr>
              <a:lnSpc>
                <a:spcPct val="120000"/>
              </a:lnSpc>
              <a:defRPr sz="1100">
                <a:solidFill>
                  <a:srgbClr val="FFFFFF"/>
                </a:solidFill>
              </a:defRPr>
            </a:pPr>
            <a:r>
              <a:t>• Strong brand equity</a:t>
            </a:r>
          </a:p>
          <a:p>
            <a:pPr>
              <a:lnSpc>
                <a:spcPct val="120000"/>
              </a:lnSpc>
              <a:defRPr sz="1100">
                <a:solidFill>
                  <a:srgbClr val="FFFFFF"/>
                </a:solidFill>
              </a:defRPr>
            </a:pPr>
            <a:r>
              <a:t>• Supercharger network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371600"/>
            <a:ext cx="3657600" cy="2011680"/>
          </a:xfrm>
          <a:prstGeom prst="roundRect">
            <a:avLst/>
          </a:prstGeom>
          <a:solidFill>
            <a:srgbClr val="F4433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4630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⚠️ 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0116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20000"/>
              </a:lnSpc>
              <a:defRPr sz="1100">
                <a:solidFill>
                  <a:srgbClr val="FFFFFF"/>
                </a:solidFill>
              </a:defRPr>
            </a:pPr>
            <a:r>
              <a:t>• Limited advertising presence</a:t>
            </a:r>
          </a:p>
          <a:p>
            <a:pPr>
              <a:lnSpc>
                <a:spcPct val="120000"/>
              </a:lnSpc>
              <a:defRPr sz="1100">
                <a:solidFill>
                  <a:srgbClr val="FFFFFF"/>
                </a:solidFill>
              </a:defRPr>
            </a:pPr>
            <a:r>
              <a:t>• High price perception</a:t>
            </a:r>
          </a:p>
          <a:p>
            <a:pPr>
              <a:lnSpc>
                <a:spcPct val="120000"/>
              </a:lnSpc>
              <a:defRPr sz="1100">
                <a:solidFill>
                  <a:srgbClr val="FFFFFF"/>
                </a:solidFill>
              </a:defRPr>
            </a:pPr>
            <a:r>
              <a:t>• Production constraints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57600"/>
            <a:ext cx="3657600" cy="2011680"/>
          </a:xfrm>
          <a:prstGeom prst="roundRect">
            <a:avLst/>
          </a:prstGeom>
          <a:solidFill>
            <a:srgbClr val="2196F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7490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🌟 OPPORTUNITIES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20000"/>
              </a:lnSpc>
              <a:defRPr sz="1100">
                <a:solidFill>
                  <a:srgbClr val="FFFFFF"/>
                </a:solidFill>
              </a:defRPr>
            </a:pPr>
            <a:r>
              <a:t>• Government EV incentives</a:t>
            </a:r>
          </a:p>
          <a:p>
            <a:pPr>
              <a:lnSpc>
                <a:spcPct val="120000"/>
              </a:lnSpc>
              <a:defRPr sz="1100">
                <a:solidFill>
                  <a:srgbClr val="FFFFFF"/>
                </a:solidFill>
              </a:defRPr>
            </a:pPr>
            <a:r>
              <a:t>• Growing sustainability awareness</a:t>
            </a:r>
          </a:p>
          <a:p>
            <a:pPr>
              <a:lnSpc>
                <a:spcPct val="120000"/>
              </a:lnSpc>
              <a:defRPr sz="1100">
                <a:solidFill>
                  <a:srgbClr val="FFFFFF"/>
                </a:solidFill>
              </a:defRPr>
            </a:pPr>
            <a:r>
              <a:t>• International expansion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657600"/>
            <a:ext cx="3657600" cy="2011680"/>
          </a:xfrm>
          <a:prstGeom prst="roundRect">
            <a:avLst/>
          </a:prstGeom>
          <a:solidFill>
            <a:srgbClr val="FF98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37490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⚡ THREATS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2976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20000"/>
              </a:lnSpc>
              <a:defRPr sz="1100">
                <a:solidFill>
                  <a:srgbClr val="FFFFFF"/>
                </a:solidFill>
              </a:defRPr>
            </a:pPr>
            <a:r>
              <a:t>• Intense legacy automaker competition</a:t>
            </a:r>
          </a:p>
          <a:p>
            <a:pPr>
              <a:lnSpc>
                <a:spcPct val="120000"/>
              </a:lnSpc>
              <a:defRPr sz="1100">
                <a:solidFill>
                  <a:srgbClr val="FFFFFF"/>
                </a:solidFill>
              </a:defRPr>
            </a:pPr>
            <a:r>
              <a:t>• Supply chain disruptions</a:t>
            </a:r>
          </a:p>
          <a:p>
            <a:pPr>
              <a:lnSpc>
                <a:spcPct val="120000"/>
              </a:lnSpc>
              <a:defRPr sz="1100">
                <a:solidFill>
                  <a:srgbClr val="FFFFFF"/>
                </a:solidFill>
              </a:defRPr>
            </a:pPr>
            <a:r>
              <a:t>• Regulatory changes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FFC10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💰 BUDGET ALLOCATION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129611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601200" y="1371600"/>
          <a:ext cx="2743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</a:tblGrid>
              <a:tr h="391885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CHANNEL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BUDGET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PERCENTAGE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24242"/>
                          </a:solidFill>
                        </a:rPr>
                        <a:t>🎯 Google Ads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24242"/>
                          </a:solidFill>
                        </a:rPr>
                        <a:t>$225,000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24242"/>
                          </a:solidFill>
                        </a:rPr>
                        <a:t>30.0%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24242"/>
                          </a:solidFill>
                        </a:rPr>
                        <a:t>🎯 Meta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24242"/>
                          </a:solidFill>
                        </a:rPr>
                        <a:t>$180,000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24242"/>
                          </a:solidFill>
                        </a:rPr>
                        <a:t>24.0%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24242"/>
                          </a:solidFill>
                        </a:rPr>
                        <a:t>🎯 YouTube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24242"/>
                          </a:solidFill>
                        </a:rPr>
                        <a:t>$150,000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24242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24242"/>
                          </a:solidFill>
                        </a:rPr>
                        <a:t>🎯 LinkedIn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24242"/>
                          </a:solidFill>
                        </a:rPr>
                        <a:t>$75,000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24242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24242"/>
                          </a:solidFill>
                        </a:rPr>
                        <a:t>🎯 Twitter/X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24242"/>
                          </a:solidFill>
                        </a:rPr>
                        <a:t>$60,000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24242"/>
                          </a:solidFill>
                        </a:rPr>
                        <a:t>8.0%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24242"/>
                          </a:solidFill>
                        </a:rPr>
                        <a:t>🎯 TikTok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24242"/>
                          </a:solidFill>
                        </a:rPr>
                        <a:t>$60,000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24242"/>
                          </a:solidFill>
                        </a:rPr>
                        <a:t>8.0%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9C27B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🗓️ STRATEGIC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7772400" cy="914400"/>
          </a:xfrm>
          <a:prstGeom prst="roundRect">
            <a:avLst/>
          </a:prstGeom>
          <a:solidFill>
            <a:srgbClr val="1A23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406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📅 Brand Awareness Campaign: 2025-09-01 → 2025-10-31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926080"/>
            <a:ext cx="7772400" cy="914400"/>
          </a:xfrm>
          <a:prstGeom prst="roundRect">
            <a:avLst/>
          </a:prstGeom>
          <a:solidFill>
            <a:srgbClr val="4CAF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7406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📅 Consideration &amp; Test Drives: 2025-11-01 → 2025-12-31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023360"/>
            <a:ext cx="7772400" cy="914400"/>
          </a:xfrm>
          <a:prstGeom prst="roundRect">
            <a:avLst/>
          </a:prstGeom>
          <a:solidFill>
            <a:srgbClr val="FF57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7406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📅 Conversion Optimization: 2026-01-01 → 2026-02-28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23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🙏 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5722"/>
                </a:solidFill>
              </a:defRPr>
            </a:pPr>
            <a:r>
              <a:t>🚀 Ready to dominate the Electric Vehicles market!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